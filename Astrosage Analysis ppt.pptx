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787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33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56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51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64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22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8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64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35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12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8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CF44-A176-44F1-88A2-C689AB81CDB6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62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AEA7-8853-EF38-4D8B-99C41D66F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935" y="802299"/>
            <a:ext cx="10464917" cy="1478786"/>
          </a:xfrm>
        </p:spPr>
        <p:txBody>
          <a:bodyPr/>
          <a:lstStyle/>
          <a:p>
            <a:r>
              <a:rPr lang="en-IN" sz="6000" b="1" i="1" dirty="0" err="1">
                <a:solidFill>
                  <a:schemeClr val="accent1">
                    <a:lumMod val="50000"/>
                  </a:schemeClr>
                </a:solidFill>
                <a:latin typeface="Century Schoolbook" panose="02040604050505020304" pitchFamily="18" charset="0"/>
              </a:rPr>
              <a:t>Astrosage</a:t>
            </a:r>
            <a:r>
              <a:rPr lang="en-IN" sz="6000" b="1" i="1" dirty="0">
                <a:solidFill>
                  <a:schemeClr val="accent1">
                    <a:lumMod val="50000"/>
                  </a:schemeClr>
                </a:solidFill>
                <a:latin typeface="Century Schoolbook" panose="02040604050505020304" pitchFamily="18" charset="0"/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1662F-D7D7-BEBF-7D5C-801C0782A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754" y="2852778"/>
            <a:ext cx="9754556" cy="2358319"/>
          </a:xfrm>
        </p:spPr>
        <p:txBody>
          <a:bodyPr>
            <a:normAutofit/>
          </a:bodyPr>
          <a:lstStyle/>
          <a:p>
            <a:r>
              <a:rPr lang="en-US" altLang="en-US" i="1" cap="none" dirty="0">
                <a:latin typeface="Arial" panose="020B0604020202020204" pitchFamily="34" charset="0"/>
              </a:rPr>
              <a:t>“A Data-Driven Evaluation of </a:t>
            </a:r>
            <a:r>
              <a:rPr lang="en-US" altLang="en-US" i="1" cap="none" dirty="0" err="1">
                <a:latin typeface="Arial" panose="020B0604020202020204" pitchFamily="34" charset="0"/>
              </a:rPr>
              <a:t>AstroSage</a:t>
            </a:r>
            <a:r>
              <a:rPr lang="en-US" altLang="en-US" i="1" cap="none" dirty="0">
                <a:latin typeface="Arial" panose="020B0604020202020204" pitchFamily="34" charset="0"/>
              </a:rPr>
              <a:t> Platform Insights To provide better service in future… ”</a:t>
            </a:r>
            <a:endParaRPr lang="en-US" altLang="en-US" cap="none" dirty="0">
              <a:latin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  <a:p>
            <a:pPr algn="r"/>
            <a:r>
              <a:rPr lang="en-IN" dirty="0"/>
              <a:t>                                                                                                           by </a:t>
            </a:r>
            <a:r>
              <a:rPr lang="en-IN" dirty="0" err="1"/>
              <a:t>neelam</a:t>
            </a:r>
            <a:r>
              <a:rPr lang="en-IN" dirty="0"/>
              <a:t> Rajput </a:t>
            </a:r>
          </a:p>
        </p:txBody>
      </p:sp>
    </p:spTree>
    <p:extLst>
      <p:ext uri="{BB962C8B-B14F-4D97-AF65-F5344CB8AC3E}">
        <p14:creationId xmlns:p14="http://schemas.microsoft.com/office/powerpoint/2010/main" val="48796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AE2B-C71F-7E85-0D09-85AE9D6F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r>
              <a:rPr lang="en-IN" dirty="0"/>
              <a:t>Introduction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55097-AD2D-BAC6-2AEF-53254D48F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61419"/>
            <a:ext cx="9603275" cy="3204926"/>
          </a:xfrm>
        </p:spPr>
        <p:txBody>
          <a:bodyPr/>
          <a:lstStyle/>
          <a:p>
            <a:r>
              <a:rPr lang="en-IN" dirty="0"/>
              <a:t>Most of the user did the repeat calls i.e. about 57% , which shows major efficiency gaps.</a:t>
            </a:r>
          </a:p>
          <a:p>
            <a:pPr marL="0" indent="0">
              <a:buNone/>
            </a:pPr>
            <a:r>
              <a:rPr lang="en-IN" b="1" dirty="0"/>
              <a:t>Objectives :-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 Identifying the workload and performance gaps.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 Identifying the better consultation type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   Recommend data-driven strategies to improve the overall efficiency.</a:t>
            </a:r>
          </a:p>
        </p:txBody>
      </p:sp>
    </p:spTree>
    <p:extLst>
      <p:ext uri="{BB962C8B-B14F-4D97-AF65-F5344CB8AC3E}">
        <p14:creationId xmlns:p14="http://schemas.microsoft.com/office/powerpoint/2010/main" val="280612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9D15-3ECC-1290-5951-6951DE2B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47ABA-8323-191C-8650-40724FCEB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Dataset :-28027 consultation records of 34 days .</a:t>
            </a:r>
          </a:p>
          <a:p>
            <a:pPr marL="0" indent="0">
              <a:buNone/>
            </a:pPr>
            <a:r>
              <a:rPr lang="en-IN" dirty="0"/>
              <a:t>Attributes :- 35 columns are provided in data having call details.</a:t>
            </a:r>
          </a:p>
          <a:p>
            <a:pPr marL="0" indent="0">
              <a:buNone/>
            </a:pPr>
            <a:r>
              <a:rPr lang="en-IN" dirty="0"/>
              <a:t>Time Duration :- 1st December 2023 to 3rd Jan 2024.</a:t>
            </a:r>
          </a:p>
          <a:p>
            <a:pPr marL="0" indent="0">
              <a:buNone/>
            </a:pPr>
            <a:r>
              <a:rPr lang="en-IN" dirty="0"/>
              <a:t>Scope of Analysis:-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Addition of new users and revenue earned.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Performance of Gurus and workload distribution.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Feedback analysis.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/>
              <a:t>Preference of consultation type by user and call status.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8153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0BAA-6A2A-7F8D-74B8-97A61819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758810"/>
          </a:xfrm>
        </p:spPr>
        <p:txBody>
          <a:bodyPr/>
          <a:lstStyle/>
          <a:p>
            <a:r>
              <a:rPr lang="en-IN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E0BD-CF8C-38AC-E379-2B80B4D30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4741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Analytical approach:</a:t>
            </a:r>
          </a:p>
          <a:p>
            <a:pPr marL="0" indent="0">
              <a:buNone/>
            </a:pPr>
            <a:r>
              <a:rPr lang="en-IN" dirty="0"/>
              <a:t>    Cleaned data by removing duplicates, filling blank values, inserting the required columns.</a:t>
            </a:r>
            <a:br>
              <a:rPr lang="en-IN" dirty="0"/>
            </a:br>
            <a:r>
              <a:rPr lang="en-IN" dirty="0"/>
              <a:t>    Created pivot tables to summarize data.</a:t>
            </a:r>
            <a:br>
              <a:rPr lang="en-IN" dirty="0"/>
            </a:br>
            <a:r>
              <a:rPr lang="en-IN" dirty="0"/>
              <a:t>     Visualized the summarized data with help of chats and graphs.</a:t>
            </a:r>
            <a:br>
              <a:rPr lang="en-IN" dirty="0"/>
            </a:br>
            <a:r>
              <a:rPr lang="en-IN" dirty="0"/>
              <a:t>    Identifying the major KPIs (</a:t>
            </a:r>
            <a:r>
              <a:rPr lang="en-IN" dirty="0" err="1"/>
              <a:t>agent,cost</a:t>
            </a:r>
            <a:r>
              <a:rPr lang="en-IN" dirty="0"/>
              <a:t>, rating and </a:t>
            </a:r>
            <a:r>
              <a:rPr lang="en-IN" dirty="0" err="1"/>
              <a:t>callvolume</a:t>
            </a:r>
            <a:r>
              <a:rPr lang="en-IN" dirty="0"/>
              <a:t> ).</a:t>
            </a:r>
            <a:br>
              <a:rPr lang="en-IN" dirty="0"/>
            </a:br>
            <a:r>
              <a:rPr lang="en-IN" dirty="0"/>
              <a:t>    Derived insights for better utilization of investment.</a:t>
            </a:r>
            <a:br>
              <a:rPr lang="en-IN" dirty="0"/>
            </a:br>
            <a:r>
              <a:rPr lang="en-IN" dirty="0"/>
              <a:t>Tools used:</a:t>
            </a:r>
          </a:p>
          <a:p>
            <a:pPr marL="0" indent="0">
              <a:buNone/>
            </a:pPr>
            <a:r>
              <a:rPr lang="en-IN" dirty="0"/>
              <a:t>     Excel( data cleaning, pivot table ,charts, formatting)</a:t>
            </a:r>
            <a:br>
              <a:rPr lang="en-IN" dirty="0"/>
            </a:br>
            <a:r>
              <a:rPr lang="en-IN" dirty="0"/>
              <a:t>     Functions (COUNT,AVERAGE,SUM,CORREL)</a:t>
            </a:r>
            <a:br>
              <a:rPr lang="en-IN" dirty="0"/>
            </a:br>
            <a:r>
              <a:rPr lang="en-IN" dirty="0"/>
              <a:t>     presenting everything in dashboard with slicers </a:t>
            </a:r>
          </a:p>
          <a:p>
            <a:pPr marL="0" indent="0">
              <a:buNone/>
            </a:pPr>
            <a:r>
              <a:rPr lang="en-IN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45068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DD72-91DC-27BF-7A76-662F9CB5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554" y="1066801"/>
            <a:ext cx="5618402" cy="603401"/>
          </a:xfrm>
        </p:spPr>
        <p:txBody>
          <a:bodyPr/>
          <a:lstStyle/>
          <a:p>
            <a:r>
              <a:rPr lang="en-IN" dirty="0"/>
              <a:t>User access source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6C999-3EBA-9F78-8954-CA9E307B7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6787"/>
            <a:ext cx="9603275" cy="3519558"/>
          </a:xfrm>
        </p:spPr>
        <p:txBody>
          <a:bodyPr/>
          <a:lstStyle/>
          <a:p>
            <a:r>
              <a:rPr lang="en-IN" dirty="0"/>
              <a:t>More than 72% of users use </a:t>
            </a:r>
            <a:r>
              <a:rPr lang="en-IN" dirty="0" err="1"/>
              <a:t>gurucool</a:t>
            </a:r>
            <a:r>
              <a:rPr lang="en-IN" dirty="0"/>
              <a:t> to connect to </a:t>
            </a:r>
            <a:r>
              <a:rPr lang="en-IN" dirty="0" err="1"/>
              <a:t>astrosage</a:t>
            </a:r>
            <a:r>
              <a:rPr lang="en-IN" dirty="0"/>
              <a:t>.</a:t>
            </a:r>
          </a:p>
          <a:p>
            <a:r>
              <a:rPr lang="en-IN" dirty="0"/>
              <a:t>Using the mobile app is second most preferred choice.</a:t>
            </a:r>
          </a:p>
          <a:p>
            <a:r>
              <a:rPr lang="en-IN" dirty="0"/>
              <a:t>Via dashboard the engagement of user is minimal.</a:t>
            </a:r>
          </a:p>
          <a:p>
            <a:endParaRPr lang="en-IN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B6A6479-C617-6824-E199-A5331361C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574" y="3104146"/>
            <a:ext cx="4113280" cy="236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64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43D3-7BC2-3AA6-D1CF-7AB95044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 handling 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ADC87-3129-E011-FB92-3947EE041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348868" y="2273797"/>
            <a:ext cx="4645152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2D48-BCDA-6E20-30CA-2AA5AD043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149823"/>
            <a:ext cx="4645152" cy="3318904"/>
          </a:xfrm>
        </p:spPr>
        <p:txBody>
          <a:bodyPr/>
          <a:lstStyle/>
          <a:p>
            <a:r>
              <a:rPr lang="en-IN" dirty="0"/>
              <a:t>About 3451 calls are successfully completed which is about 41% of total calls made.</a:t>
            </a:r>
          </a:p>
          <a:p>
            <a:r>
              <a:rPr lang="en-IN" dirty="0"/>
              <a:t>While 1040 calls failed and 1729 were not answered contributing together approx. 35% indicating the need for improving the call handling efficiency.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6A0AA-1BD7-FF10-F312-5C0951FA7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25000" lnSpcReduction="20000"/>
          </a:bodyPr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977C335-ECF5-7178-8670-FCC34BC0973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362" y="2019550"/>
            <a:ext cx="4816077" cy="343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52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E903-52DC-B06C-1052-7A1C1646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Peak timings of rush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0771-EB61-DF91-A3A0-6115E1C172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Customer activity peaks after 6A.M. and remain engaged till 5P.M.</a:t>
            </a:r>
          </a:p>
          <a:p>
            <a:r>
              <a:rPr lang="en-IN" dirty="0"/>
              <a:t>Hence the need of more agent is required during the interval .</a:t>
            </a:r>
          </a:p>
          <a:p>
            <a:r>
              <a:rPr lang="en-IN" dirty="0"/>
              <a:t>Expert agents can be provided during these slots to handle the rush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81C547-32E0-89BC-6628-F1E4EF65209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1864194"/>
            <a:ext cx="5159068" cy="381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35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5C33-7484-743C-C49F-E9D746BD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of guru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A863-5ACF-6268-67CF-E59FEDC2C5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Only two gurus were rated 7.5 on an average scale out of 150 gurus (i.e. Tarot mystical and Astro </a:t>
            </a:r>
            <a:r>
              <a:rPr lang="en-IN" dirty="0" err="1"/>
              <a:t>Pujaa</a:t>
            </a:r>
            <a:r>
              <a:rPr lang="en-IN" dirty="0"/>
              <a:t> Rai).</a:t>
            </a:r>
          </a:p>
          <a:p>
            <a:r>
              <a:rPr lang="en-IN" dirty="0"/>
              <a:t>Some calls are even rated zeroes indicating the highly disappointing performance by agents.</a:t>
            </a:r>
          </a:p>
          <a:p>
            <a:r>
              <a:rPr lang="en-IN" dirty="0"/>
              <a:t>Training should be given to unskilled staff.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0C9B8A-E2CD-EFD9-35A4-8F28A61095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484" y="2010878"/>
            <a:ext cx="4966042" cy="32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467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663F-6DFE-BC75-8197-E4607512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Earning’s of </a:t>
            </a:r>
            <a:r>
              <a:rPr lang="en-IN" dirty="0" err="1"/>
              <a:t>astrosage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CFDA3-94F6-8ADB-5F43-662A1AC398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Calls make the highest earning around Rs.1,68 lakhs.</a:t>
            </a:r>
          </a:p>
          <a:p>
            <a:r>
              <a:rPr lang="en-IN" dirty="0"/>
              <a:t>Chats generate a decent amount of revenue around Rs.45K.</a:t>
            </a:r>
          </a:p>
          <a:p>
            <a:r>
              <a:rPr lang="en-IN" dirty="0"/>
              <a:t>While public live calls has negligible and complementary calls have no contribution at all.</a:t>
            </a:r>
          </a:p>
          <a:p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61035E0-A81C-904D-9D55-8EB72FD33CF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820" y="1950457"/>
            <a:ext cx="5122606" cy="344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628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2CA6-CE29-E707-9DBA-1B78B9F2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Refund Status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3726-D4CE-89D4-B6F4-30BFAB7B9A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People asking for refund seems very low that seems good for the </a:t>
            </a:r>
            <a:r>
              <a:rPr lang="en-IN" dirty="0" err="1"/>
              <a:t>astrosage’s</a:t>
            </a:r>
            <a:r>
              <a:rPr lang="en-IN" dirty="0"/>
              <a:t> earning .</a:t>
            </a:r>
          </a:p>
          <a:p>
            <a:r>
              <a:rPr lang="en-US" dirty="0"/>
              <a:t>Problems are likely being resolved without needing refunds.</a:t>
            </a:r>
            <a:endParaRPr lang="en-IN" dirty="0"/>
          </a:p>
          <a:p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0E810F3-42E3-70D1-C00A-655990E4950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652" y="2010878"/>
            <a:ext cx="4824873" cy="33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336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F37E-C4E6-D0FF-E924-8A156D7F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4928-D27B-97D9-0DAC-372F05B9B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After </a:t>
            </a:r>
            <a:r>
              <a:rPr lang="en-IN" dirty="0" err="1"/>
              <a:t>analyzing</a:t>
            </a:r>
            <a:r>
              <a:rPr lang="en-IN" dirty="0"/>
              <a:t> the data records only the key gap revealed was the number of calls made by the  repeat callers </a:t>
            </a:r>
            <a:r>
              <a:rPr lang="en-IN" dirty="0" err="1"/>
              <a:t>i.e.about</a:t>
            </a:r>
            <a:r>
              <a:rPr lang="en-IN" dirty="0"/>
              <a:t> 4879 calls were made 1275 repeat callers out of 8508 call.</a:t>
            </a:r>
          </a:p>
          <a:p>
            <a:r>
              <a:rPr lang="en-IN" dirty="0"/>
              <a:t>High number of sessions were rated 3 or below representing the </a:t>
            </a:r>
            <a:r>
              <a:rPr lang="en-IN" dirty="0" err="1"/>
              <a:t>dissapoinment</a:t>
            </a:r>
            <a:r>
              <a:rPr lang="en-IN" dirty="0"/>
              <a:t> among users. Even some gurus got rated well too proving their skills 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Investing in new technology ,training  and incentives will surely improve the overall performance of </a:t>
            </a:r>
            <a:r>
              <a:rPr lang="en-IN" dirty="0" err="1"/>
              <a:t>astrosage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633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A152-192C-092D-34F0-DFFB3D17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589A-8A60-649D-B9FE-AE4BF634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Invest in Technology Upgrades: Improve call routing, IVR, and CRM systems to raise completion and FCR rates.</a:t>
            </a:r>
          </a:p>
          <a:p>
            <a:pPr lvl="0"/>
            <a:r>
              <a:rPr lang="en-IN" dirty="0"/>
              <a:t>Optimize Workforce Utilization: Rebalance workloads, schedule efficiently, and share best practices from top performers.</a:t>
            </a:r>
          </a:p>
          <a:p>
            <a:r>
              <a:rPr lang="en-IN" dirty="0"/>
              <a:t>Enhance Training &amp; Incentives: Focus on empathy, communication, and problem-solving to boost CSAT and retention.</a:t>
            </a:r>
          </a:p>
          <a:p>
            <a:r>
              <a:rPr lang="en-IN" dirty="0"/>
              <a:t>Performance monitoring: use live dashboards to keep eye on the performance of agents.</a:t>
            </a:r>
          </a:p>
        </p:txBody>
      </p:sp>
    </p:spTree>
    <p:extLst>
      <p:ext uri="{BB962C8B-B14F-4D97-AF65-F5344CB8AC3E}">
        <p14:creationId xmlns:p14="http://schemas.microsoft.com/office/powerpoint/2010/main" val="759638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2D74-2B54-5F88-CDAD-B59C739D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2B1B5-EDF0-3DED-75B8-929044AA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IN" dirty="0"/>
              <a:t>By Neelam Rajput</a:t>
            </a:r>
          </a:p>
          <a:p>
            <a:pPr algn="r"/>
            <a:r>
              <a:rPr lang="en-IN" dirty="0"/>
              <a:t>04-01-2026 </a:t>
            </a:r>
          </a:p>
        </p:txBody>
      </p:sp>
    </p:spTree>
    <p:extLst>
      <p:ext uri="{BB962C8B-B14F-4D97-AF65-F5344CB8AC3E}">
        <p14:creationId xmlns:p14="http://schemas.microsoft.com/office/powerpoint/2010/main" val="220826012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118</TotalTime>
  <Words>649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Schoolbook</vt:lpstr>
      <vt:lpstr>Gill Sans MT</vt:lpstr>
      <vt:lpstr>Wingdings</vt:lpstr>
      <vt:lpstr>Gallery</vt:lpstr>
      <vt:lpstr>Astrosage Analysis</vt:lpstr>
      <vt:lpstr>Introduction and objectives</vt:lpstr>
      <vt:lpstr>Overview of  data</vt:lpstr>
      <vt:lpstr>Methodology </vt:lpstr>
      <vt:lpstr>User access source</vt:lpstr>
      <vt:lpstr>Call handling efficiency</vt:lpstr>
      <vt:lpstr>Peak timings of rush</vt:lpstr>
      <vt:lpstr>Performance of guru</vt:lpstr>
      <vt:lpstr>Earning’s of astrosage</vt:lpstr>
      <vt:lpstr>Refund Status </vt:lpstr>
      <vt:lpstr>conclusions</vt:lpstr>
      <vt:lpstr>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 Rajput</dc:creator>
  <cp:lastModifiedBy>Neelam Rajput</cp:lastModifiedBy>
  <cp:revision>1</cp:revision>
  <dcterms:created xsi:type="dcterms:W3CDTF">2026-01-04T16:06:48Z</dcterms:created>
  <dcterms:modified xsi:type="dcterms:W3CDTF">2026-01-04T18:05:02Z</dcterms:modified>
</cp:coreProperties>
</file>